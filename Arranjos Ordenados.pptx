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78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88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11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2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1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36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67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4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0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05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4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29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98E420-4FFC-4D35-B15F-045E166EE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2630A0-397F-8D40-DDEE-693384F25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2037" y="4115941"/>
            <a:ext cx="8657450" cy="1124073"/>
          </a:xfrm>
        </p:spPr>
        <p:txBody>
          <a:bodyPr anchor="b">
            <a:normAutofit/>
          </a:bodyPr>
          <a:lstStyle/>
          <a:p>
            <a:r>
              <a:rPr lang="pt-BR" dirty="0"/>
              <a:t>Arranjos Ordenados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E83A85-5E2A-38D5-5FF8-3A2913406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2037" y="5362074"/>
            <a:ext cx="8657450" cy="681942"/>
          </a:xfrm>
        </p:spPr>
        <p:txBody>
          <a:bodyPr anchor="t">
            <a:normAutofit/>
          </a:bodyPr>
          <a:lstStyle/>
          <a:p>
            <a:r>
              <a:rPr lang="pt-BR" dirty="0"/>
              <a:t>Vitor Morini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DEAA51-8BA5-4C87-9448-75CBB18F0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36259" y="-4126"/>
            <a:ext cx="3526736" cy="3420239"/>
          </a:xfrm>
          <a:custGeom>
            <a:avLst/>
            <a:gdLst>
              <a:gd name="connsiteX0" fmla="*/ 3526736 w 3526736"/>
              <a:gd name="connsiteY0" fmla="*/ 3420239 h 3420239"/>
              <a:gd name="connsiteX1" fmla="*/ 0 w 3526736"/>
              <a:gd name="connsiteY1" fmla="*/ 3420239 h 3420239"/>
              <a:gd name="connsiteX2" fmla="*/ 0 w 3526736"/>
              <a:gd name="connsiteY2" fmla="*/ 0 h 3420239"/>
              <a:gd name="connsiteX3" fmla="*/ 3467210 w 3526736"/>
              <a:gd name="connsiteY3" fmla="*/ 0 h 3420239"/>
              <a:gd name="connsiteX4" fmla="*/ 7694 w 3526736"/>
              <a:gd name="connsiteY4" fmla="*/ 3404028 h 3420239"/>
              <a:gd name="connsiteX5" fmla="*/ 7694 w 3526736"/>
              <a:gd name="connsiteY5" fmla="*/ 3416113 h 3420239"/>
              <a:gd name="connsiteX6" fmla="*/ 3526736 w 3526736"/>
              <a:gd name="connsiteY6" fmla="*/ 3416113 h 3420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6736" h="3420239">
                <a:moveTo>
                  <a:pt x="3526736" y="3420239"/>
                </a:moveTo>
                <a:lnTo>
                  <a:pt x="0" y="3420239"/>
                </a:lnTo>
                <a:lnTo>
                  <a:pt x="0" y="0"/>
                </a:lnTo>
                <a:lnTo>
                  <a:pt x="3467210" y="0"/>
                </a:lnTo>
                <a:lnTo>
                  <a:pt x="7694" y="3404028"/>
                </a:lnTo>
                <a:lnTo>
                  <a:pt x="7694" y="3416113"/>
                </a:lnTo>
                <a:lnTo>
                  <a:pt x="3526736" y="341611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400E8E-1DCC-EDC3-5880-37424A8D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799" r="-1" b="14943"/>
          <a:stretch>
            <a:fillRect/>
          </a:stretch>
        </p:blipFill>
        <p:spPr>
          <a:xfrm>
            <a:off x="1" y="-4125"/>
            <a:ext cx="10462125" cy="3423981"/>
          </a:xfrm>
          <a:custGeom>
            <a:avLst/>
            <a:gdLst/>
            <a:ahLst/>
            <a:cxnLst/>
            <a:rect l="l" t="t" r="r" b="b"/>
            <a:pathLst>
              <a:path w="10462125" h="3423981">
                <a:moveTo>
                  <a:pt x="6824" y="0"/>
                </a:moveTo>
                <a:lnTo>
                  <a:pt x="10462125" y="0"/>
                </a:lnTo>
                <a:lnTo>
                  <a:pt x="10462125" y="12085"/>
                </a:lnTo>
                <a:lnTo>
                  <a:pt x="6998417" y="3420238"/>
                </a:lnTo>
                <a:lnTo>
                  <a:pt x="10462125" y="3420238"/>
                </a:lnTo>
                <a:lnTo>
                  <a:pt x="10462125" y="3420239"/>
                </a:lnTo>
                <a:lnTo>
                  <a:pt x="1132764" y="3420239"/>
                </a:lnTo>
                <a:lnTo>
                  <a:pt x="1132764" y="3423981"/>
                </a:lnTo>
                <a:lnTo>
                  <a:pt x="0" y="3423981"/>
                </a:lnTo>
                <a:lnTo>
                  <a:pt x="0" y="4125"/>
                </a:lnTo>
                <a:lnTo>
                  <a:pt x="6824" y="4125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97104A3-01F9-4B74-A319-2D54DB3E0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0462995" y="-4125"/>
            <a:ext cx="1734065" cy="342023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527CF11-B26B-4BFF-A858-A93A6186E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9618590" y="837644"/>
            <a:ext cx="3420241" cy="1736699"/>
          </a:xfrm>
          <a:custGeom>
            <a:avLst/>
            <a:gdLst>
              <a:gd name="connsiteX0" fmla="*/ 3423466 w 3423466"/>
              <a:gd name="connsiteY0" fmla="*/ 0 h 1718483"/>
              <a:gd name="connsiteX1" fmla="*/ 1710280 w 3423466"/>
              <a:gd name="connsiteY1" fmla="*/ 0 h 1718483"/>
              <a:gd name="connsiteX2" fmla="*/ 1710280 w 3423466"/>
              <a:gd name="connsiteY2" fmla="*/ 1 h 1718483"/>
              <a:gd name="connsiteX3" fmla="*/ 0 w 3423466"/>
              <a:gd name="connsiteY3" fmla="*/ 1 h 1718483"/>
              <a:gd name="connsiteX4" fmla="*/ 1538022 w 3423466"/>
              <a:gd name="connsiteY4" fmla="*/ 1709611 h 1718483"/>
              <a:gd name="connsiteX5" fmla="*/ 1710280 w 3423466"/>
              <a:gd name="connsiteY5" fmla="*/ 1718336 h 1718483"/>
              <a:gd name="connsiteX6" fmla="*/ 1710280 w 3423466"/>
              <a:gd name="connsiteY6" fmla="*/ 1718482 h 1718483"/>
              <a:gd name="connsiteX7" fmla="*/ 1711723 w 3423466"/>
              <a:gd name="connsiteY7" fmla="*/ 1718409 h 1718483"/>
              <a:gd name="connsiteX8" fmla="*/ 1713186 w 3423466"/>
              <a:gd name="connsiteY8" fmla="*/ 1718483 h 1718483"/>
              <a:gd name="connsiteX9" fmla="*/ 1713186 w 3423466"/>
              <a:gd name="connsiteY9" fmla="*/ 1718335 h 1718483"/>
              <a:gd name="connsiteX10" fmla="*/ 1885444 w 3423466"/>
              <a:gd name="connsiteY10" fmla="*/ 1709610 h 1718483"/>
              <a:gd name="connsiteX11" fmla="*/ 3423466 w 3423466"/>
              <a:gd name="connsiteY11" fmla="*/ 0 h 171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23466" h="1718483">
                <a:moveTo>
                  <a:pt x="3423466" y="0"/>
                </a:moveTo>
                <a:lnTo>
                  <a:pt x="1710280" y="0"/>
                </a:lnTo>
                <a:lnTo>
                  <a:pt x="1710280" y="1"/>
                </a:lnTo>
                <a:lnTo>
                  <a:pt x="0" y="1"/>
                </a:lnTo>
                <a:cubicBezTo>
                  <a:pt x="0" y="889774"/>
                  <a:pt x="674138" y="1621607"/>
                  <a:pt x="1538022" y="1709611"/>
                </a:cubicBezTo>
                <a:lnTo>
                  <a:pt x="1710280" y="1718336"/>
                </a:lnTo>
                <a:lnTo>
                  <a:pt x="1710280" y="1718482"/>
                </a:lnTo>
                <a:lnTo>
                  <a:pt x="1711723" y="1718409"/>
                </a:lnTo>
                <a:lnTo>
                  <a:pt x="1713186" y="1718483"/>
                </a:lnTo>
                <a:lnTo>
                  <a:pt x="1713186" y="1718335"/>
                </a:lnTo>
                <a:lnTo>
                  <a:pt x="1885444" y="1709610"/>
                </a:lnTo>
                <a:cubicBezTo>
                  <a:pt x="2749328" y="1621606"/>
                  <a:pt x="3423466" y="889773"/>
                  <a:pt x="34234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59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5648E2-B946-43A1-80DE-C50CBBDF9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EB4943-2073-F590-3DAB-72CD16C2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271" y="2734235"/>
            <a:ext cx="3795812" cy="10046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 err="1"/>
              <a:t>Diagrama</a:t>
            </a:r>
            <a:r>
              <a:rPr lang="en-US" dirty="0"/>
              <a:t> de classes UML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06546B-3E90-4E24-BD32-C6BFD1CD8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FA95682-BEE6-4B33-BA34-7E7BE497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3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E340A36-260F-6FD1-F0ED-16E11073A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7606" y="1066800"/>
            <a:ext cx="3766069" cy="472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6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BEDB1-74E9-181F-58B6-C2B2E4CD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do experimento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F24593-59DC-D0C2-D04D-0BB63A5B1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código executa a operação CRESCENTE, DECRESCENTE e ALEATÓRIA das 100 execuções, foi testado com tamanho de 1000 por questões de desempenho do computador, porém o código funciona perfeitamente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 linha que mantém ordenado:</a:t>
            </a:r>
          </a:p>
          <a:p>
            <a:pPr marL="0" indent="0">
              <a:buNone/>
            </a:pPr>
            <a:r>
              <a:rPr lang="pt-BR" dirty="0" err="1"/>
              <a:t>if</a:t>
            </a:r>
            <a:r>
              <a:rPr lang="pt-BR" dirty="0"/>
              <a:t> (crescente) {</a:t>
            </a:r>
            <a:br>
              <a:rPr lang="pt-BR" dirty="0"/>
            </a:br>
            <a:r>
              <a:rPr lang="pt-BR" dirty="0"/>
              <a:t>for (i = tamanho - 1; i &gt;= 0 &amp;&amp; </a:t>
            </a:r>
            <a:r>
              <a:rPr lang="pt-BR" dirty="0" err="1"/>
              <a:t>arr</a:t>
            </a:r>
            <a:r>
              <a:rPr lang="pt-BR" dirty="0"/>
              <a:t>[i] &gt; valor; i--)</a:t>
            </a:r>
          </a:p>
        </p:txBody>
      </p:sp>
    </p:spTree>
    <p:extLst>
      <p:ext uri="{BB962C8B-B14F-4D97-AF65-F5344CB8AC3E}">
        <p14:creationId xmlns:p14="http://schemas.microsoft.com/office/powerpoint/2010/main" val="3866631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45648E2-B946-43A1-80DE-C50CBBDF9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CAF980-B419-D9F6-9BA6-16CA5264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8" y="1597961"/>
            <a:ext cx="3795812" cy="235355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400" dirty="0" err="1"/>
              <a:t>Tabela</a:t>
            </a:r>
            <a:r>
              <a:rPr lang="en-US" sz="4400" dirty="0"/>
              <a:t> de </a:t>
            </a:r>
            <a:r>
              <a:rPr lang="en-US" sz="4400" dirty="0" err="1"/>
              <a:t>desempenho</a:t>
            </a:r>
            <a:br>
              <a:rPr lang="en-US" sz="4400" b="0" dirty="0"/>
            </a:br>
            <a:br>
              <a:rPr lang="en-US" sz="4400" b="0" dirty="0"/>
            </a:br>
            <a:br>
              <a:rPr lang="en-US" sz="4400" b="0" dirty="0"/>
            </a:br>
            <a:r>
              <a:rPr lang="en-US" sz="2500" b="0" dirty="0"/>
              <a:t>Ao </a:t>
            </a:r>
            <a:r>
              <a:rPr lang="en-US" sz="2500" b="0" dirty="0" err="1"/>
              <a:t>lado</a:t>
            </a:r>
            <a:r>
              <a:rPr lang="en-US" sz="2500" b="0" dirty="0"/>
              <a:t> </a:t>
            </a:r>
            <a:r>
              <a:rPr lang="en-US" sz="2500" b="0" dirty="0" err="1"/>
              <a:t>tabela</a:t>
            </a:r>
            <a:r>
              <a:rPr lang="en-US" sz="2500" b="0" dirty="0"/>
              <a:t> de </a:t>
            </a:r>
            <a:r>
              <a:rPr lang="en-US" sz="2500" b="0" dirty="0" err="1"/>
              <a:t>desempenho</a:t>
            </a:r>
            <a:r>
              <a:rPr lang="en-US" sz="2500" b="0" dirty="0"/>
              <a:t> (TAM. 1000 e 100 EXECUÇÕES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A06546B-3E90-4E24-BD32-C6BFD1CD8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FA95682-BEE6-4B33-BA34-7E7BE497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3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60ED078-787F-7188-AFF6-5EFB6AF24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6082" y="1121442"/>
            <a:ext cx="5309118" cy="461511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86FCF0C-6811-1A36-9FC3-CA09FE086FC2}"/>
              </a:ext>
            </a:extLst>
          </p:cNvPr>
          <p:cNvSpPr txBox="1"/>
          <p:nvPr/>
        </p:nvSpPr>
        <p:spPr>
          <a:xfrm>
            <a:off x="1055914" y="4085272"/>
            <a:ext cx="42345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Observações:</a:t>
            </a:r>
          </a:p>
          <a:p>
            <a:r>
              <a:rPr lang="pt-BR" dirty="0"/>
              <a:t>O </a:t>
            </a:r>
            <a:r>
              <a:rPr lang="pt-BR" i="1" dirty="0"/>
              <a:t>TEMPO MÉDIO</a:t>
            </a:r>
            <a:r>
              <a:rPr lang="pt-BR" dirty="0"/>
              <a:t> </a:t>
            </a:r>
            <a:r>
              <a:rPr lang="pt-BR" b="1" dirty="0"/>
              <a:t>CRESCENTE</a:t>
            </a:r>
            <a:r>
              <a:rPr lang="pt-BR" dirty="0"/>
              <a:t> foi o mais rápido (devido não ter que deslocar muitos elementos) e o </a:t>
            </a:r>
            <a:r>
              <a:rPr lang="pt-BR" i="1" dirty="0"/>
              <a:t>DESVIO PADRÃO </a:t>
            </a:r>
            <a:r>
              <a:rPr lang="pt-BR" dirty="0"/>
              <a:t>foi o maior.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6111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5648E2-B946-43A1-80DE-C50CBBDF9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92F832-30B7-2F65-81CC-E32DFDE14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8" y="1597961"/>
            <a:ext cx="3795812" cy="31623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Obrigado!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06546B-3E90-4E24-BD32-C6BFD1CD8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FA95682-BEE6-4B33-BA34-7E7BE497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3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Curtir">
            <a:extLst>
              <a:ext uri="{FF2B5EF4-FFF2-40B4-BE49-F238E27FC236}">
                <a16:creationId xmlns:a16="http://schemas.microsoft.com/office/drawing/2014/main" id="{E3925F5C-F5F8-F4E8-D78B-FDA50652E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8441" y="1066800"/>
            <a:ext cx="4724399" cy="472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5529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123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Avenir Next LT Pro</vt:lpstr>
      <vt:lpstr>Avenir Next LT Pro Light</vt:lpstr>
      <vt:lpstr>BlocksVTI</vt:lpstr>
      <vt:lpstr>Arranjos Ordenados </vt:lpstr>
      <vt:lpstr>Diagrama de classes UML</vt:lpstr>
      <vt:lpstr>Metodologia do experimento</vt:lpstr>
      <vt:lpstr>Tabela de desempenho   Ao lado tabela de desempenho (TAM. 1000 e 100 EXECUÇÕES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VITOR MORINI</dc:creator>
  <cp:lastModifiedBy>VITOR MORINI</cp:lastModifiedBy>
  <cp:revision>1</cp:revision>
  <dcterms:created xsi:type="dcterms:W3CDTF">2026-03-15T18:38:44Z</dcterms:created>
  <dcterms:modified xsi:type="dcterms:W3CDTF">2026-03-15T18:59:44Z</dcterms:modified>
</cp:coreProperties>
</file>